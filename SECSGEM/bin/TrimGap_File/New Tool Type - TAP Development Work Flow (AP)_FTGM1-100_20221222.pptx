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0" r:id="rId5"/>
  </p:sldMasterIdLst>
  <p:notesMasterIdLst>
    <p:notesMasterId r:id="rId15"/>
  </p:notesMasterIdLst>
  <p:handoutMasterIdLst>
    <p:handoutMasterId r:id="rId16"/>
  </p:handoutMasterIdLst>
  <p:sldIdLst>
    <p:sldId id="256" r:id="rId6"/>
    <p:sldId id="258" r:id="rId7"/>
    <p:sldId id="267" r:id="rId8"/>
    <p:sldId id="260" r:id="rId9"/>
    <p:sldId id="261" r:id="rId10"/>
    <p:sldId id="263" r:id="rId11"/>
    <p:sldId id="264" r:id="rId12"/>
    <p:sldId id="265" r:id="rId13"/>
    <p:sldId id="266" r:id="rId14"/>
  </p:sldIdLst>
  <p:sldSz cx="12192000" cy="6858000"/>
  <p:notesSz cx="7315200" cy="96012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0D76B"/>
    <a:srgbClr val="C2C2C2"/>
    <a:srgbClr val="E6EFC4"/>
    <a:srgbClr val="C8E6CE"/>
    <a:srgbClr val="5F838A"/>
    <a:srgbClr val="B1E1DF"/>
    <a:srgbClr val="ABC1C5"/>
    <a:srgbClr val="9BD9D6"/>
    <a:srgbClr val="45B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8" autoAdjust="0"/>
    <p:restoredTop sz="89692" autoAdjust="0"/>
  </p:normalViewPr>
  <p:slideViewPr>
    <p:cSldViewPr>
      <p:cViewPr varScale="1">
        <p:scale>
          <a:sx n="113" d="100"/>
          <a:sy n="113" d="100"/>
        </p:scale>
        <p:origin x="462" y="108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812" y="40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id="{ED96608F-2301-45F2-9716-5D78EE6B6F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764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CA3BBB80-7FBA-406B-94B3-E70DCE47B4A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125" y="1"/>
            <a:ext cx="3169076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2" name="Rectangle 1028">
            <a:extLst>
              <a:ext uri="{FF2B5EF4-FFF2-40B4-BE49-F238E27FC236}">
                <a16:creationId xmlns:a16="http://schemas.microsoft.com/office/drawing/2014/main" id="{5DEE4FF3-6961-4BBD-B2AE-16169EE698F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1216"/>
            <a:ext cx="3170764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3" name="Rectangle 1029">
            <a:extLst>
              <a:ext uri="{FF2B5EF4-FFF2-40B4-BE49-F238E27FC236}">
                <a16:creationId xmlns:a16="http://schemas.microsoft.com/office/drawing/2014/main" id="{22885947-7FDC-4469-B746-546E44E4C4C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125" y="9121216"/>
            <a:ext cx="3169076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15299D25-A526-4BB7-82AD-1C8940AC0FC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2456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E563E22-2823-424C-9799-0511A1AA3D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764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35A222C-A43F-4927-81C0-E217547AA4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6125" y="1"/>
            <a:ext cx="3169076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80408A0-A5D3-47ED-B97D-8AD9EA948EC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20725"/>
            <a:ext cx="63976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265403D7-44FE-4F78-89B0-7695E5D955B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608"/>
            <a:ext cx="5364480" cy="431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FCD8FDE1-880B-48FA-84A9-44882927E0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216"/>
            <a:ext cx="3170764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DF289317-D24B-4007-B69B-722EDA0498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125" y="9121216"/>
            <a:ext cx="3169076" cy="4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78" tIns="48239" rIns="96478" bIns="4823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2DD2580D-B7A5-4045-A3C6-18D96391760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89306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0E76467C-50FF-49C3-8424-758C548AC6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82638" indent="-3000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204913" indent="-239713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87513" indent="-239713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70113" indent="-239713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627313" indent="-239713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84513" indent="-239713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41713" indent="-239713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98913" indent="-239713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5DEBDD6F-D008-4963-A0C3-8DE71D56AB25}" type="slidenum">
              <a:rPr lang="en-US" altLang="zh-TW" sz="1300"/>
              <a:pPr/>
              <a:t>0</a:t>
            </a:fld>
            <a:endParaRPr lang="en-US" altLang="zh-TW" sz="1300"/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E5E5786F-B2BF-4C3F-B46E-AC2DCEB7BD6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6125" y="9121216"/>
            <a:ext cx="3169076" cy="479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74" tIns="47337" rIns="94674" bIns="47337" anchor="b"/>
          <a:lstStyle>
            <a:lvl1pPr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896938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896938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896938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896938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896938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7EB9A6B1-1EDA-4BA8-AF58-788D98053E3B}" type="slidenum">
              <a:rPr lang="en-US" altLang="zh-TW" sz="1300" b="0">
                <a:latin typeface="Times New Roman" panose="02020603050405020304" pitchFamily="18" charset="0"/>
              </a:rPr>
              <a:pPr algn="r" eaLnBrk="1" hangingPunct="1"/>
              <a:t>0</a:t>
            </a:fld>
            <a:endParaRPr lang="en-US" altLang="zh-TW" sz="1300" b="0">
              <a:latin typeface="Times New Roman" panose="02020603050405020304" pitchFamily="18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F9705C7F-3820-4BC0-B3FE-81B779260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17550"/>
            <a:ext cx="6402387" cy="3602038"/>
          </a:xfrm>
          <a:solidFill>
            <a:srgbClr val="FFFFFF"/>
          </a:solidFill>
          <a:ln/>
        </p:spPr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D44BFE6D-D96D-43B2-A7EB-524403BD6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5361" y="4562132"/>
            <a:ext cx="5364480" cy="432137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4674" tIns="47337" rIns="94674" bIns="47337"/>
          <a:lstStyle/>
          <a:p>
            <a:pPr eaLnBrk="1" hangingPunct="1"/>
            <a:endParaRPr lang="en-US" altLang="zh-TW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413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14">
            <a:extLst>
              <a:ext uri="{FF2B5EF4-FFF2-40B4-BE49-F238E27FC236}">
                <a16:creationId xmlns:a16="http://schemas.microsoft.com/office/drawing/2014/main" id="{772AD826-4F99-498E-9961-BA8CB54A9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3" b="87799"/>
          <a:stretch/>
        </p:blipFill>
        <p:spPr bwMode="auto">
          <a:xfrm>
            <a:off x="11136560" y="0"/>
            <a:ext cx="1055440" cy="836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08BCBA88-40C0-4B06-991B-2358F77D7B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263" y="530225"/>
            <a:ext cx="2195512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方塊 26">
            <a:extLst>
              <a:ext uri="{FF2B5EF4-FFF2-40B4-BE49-F238E27FC236}">
                <a16:creationId xmlns:a16="http://schemas.microsoft.com/office/drawing/2014/main" id="{C2072863-ABB2-42F4-9173-6B11EEAE6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17613" y="2382838"/>
            <a:ext cx="2579687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defRPr/>
            </a:pPr>
            <a:r>
              <a:rPr lang="en-US" altLang="zh-TW" sz="2000" dirty="0">
                <a:solidFill>
                  <a:srgbClr val="C0C0C0"/>
                </a:solidFill>
              </a:rPr>
              <a:t>Unleash</a:t>
            </a:r>
            <a:r>
              <a:rPr lang="en-US" altLang="zh-TW" sz="2800" dirty="0">
                <a:solidFill>
                  <a:srgbClr val="C0C0C0"/>
                </a:solidFill>
              </a:rPr>
              <a:t> </a:t>
            </a:r>
            <a:r>
              <a:rPr lang="en-US" altLang="zh-TW" sz="2000" dirty="0">
                <a:solidFill>
                  <a:srgbClr val="C0C0C0"/>
                </a:solidFill>
              </a:rPr>
              <a:t>Innovation</a:t>
            </a:r>
            <a:endParaRPr lang="zh-TW" altLang="en-US" sz="2000" baseline="30000" dirty="0">
              <a:solidFill>
                <a:srgbClr val="C0C0C0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226368" y="3227041"/>
            <a:ext cx="9982200" cy="1304925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 altLang="zh-TW" dirty="0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00968" y="4979640"/>
            <a:ext cx="9982200" cy="609600"/>
          </a:xfrm>
        </p:spPr>
        <p:txBody>
          <a:bodyPr/>
          <a:lstStyle>
            <a:lvl1pPr marL="0" indent="0" algn="l">
              <a:spcBef>
                <a:spcPct val="0"/>
              </a:spcBef>
              <a:buFont typeface="Wingdings" pitchFamily="2" charset="2"/>
              <a:buNone/>
              <a:defRPr sz="2400"/>
            </a:lvl1pPr>
          </a:lstStyle>
          <a:p>
            <a:r>
              <a:rPr lang="en-US" altLang="zh-TW"/>
              <a:t>Click to edit Master subtitle style</a:t>
            </a:r>
            <a:endParaRPr lang="en-US" altLang="zh-TW" dirty="0"/>
          </a:p>
        </p:txBody>
      </p:sp>
      <p:sp>
        <p:nvSpPr>
          <p:cNvPr id="7" name="矩形 16">
            <a:extLst>
              <a:ext uri="{FF2B5EF4-FFF2-40B4-BE49-F238E27FC236}">
                <a16:creationId xmlns:a16="http://schemas.microsoft.com/office/drawing/2014/main" id="{1ED03C19-5C0A-4DD1-8525-3429B80CA9D3}"/>
              </a:ext>
            </a:extLst>
          </p:cNvPr>
          <p:cNvSpPr/>
          <p:nvPr userDrawn="1"/>
        </p:nvSpPr>
        <p:spPr bwMode="white">
          <a:xfrm rot="10800000">
            <a:off x="5916001" y="6627599"/>
            <a:ext cx="360000" cy="230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800"/>
          </a:p>
        </p:txBody>
      </p:sp>
    </p:spTree>
    <p:extLst>
      <p:ext uri="{BB962C8B-B14F-4D97-AF65-F5344CB8AC3E}">
        <p14:creationId xmlns:p14="http://schemas.microsoft.com/office/powerpoint/2010/main" val="205701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240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46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12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92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96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2689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239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728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310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297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666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40800" y="271464"/>
            <a:ext cx="2743200" cy="5595937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09085" y="271464"/>
            <a:ext cx="8028516" cy="5595937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593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2">
            <a:extLst>
              <a:ext uri="{FF2B5EF4-FFF2-40B4-BE49-F238E27FC236}">
                <a16:creationId xmlns:a16="http://schemas.microsoft.com/office/drawing/2014/main" id="{C69F7707-4B4E-4ABF-AE3A-724B45AE6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10">
            <a:extLst>
              <a:ext uri="{FF2B5EF4-FFF2-40B4-BE49-F238E27FC236}">
                <a16:creationId xmlns:a16="http://schemas.microsoft.com/office/drawing/2014/main" id="{020F9186-B7A6-4F6A-BF30-A78BD878552E}"/>
              </a:ext>
            </a:extLst>
          </p:cNvPr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711200" y="914397"/>
            <a:ext cx="10972800" cy="556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Bullet point 1 will be here (Arial 24 Bold)</a:t>
            </a:r>
          </a:p>
          <a:p>
            <a:pPr lvl="1"/>
            <a:r>
              <a:rPr lang="en-US" altLang="zh-TW" dirty="0"/>
              <a:t>Bullet point goes here (Arial 20 Bold)</a:t>
            </a:r>
          </a:p>
          <a:p>
            <a:pPr lvl="2"/>
            <a:r>
              <a:rPr lang="en-US" altLang="zh-TW" dirty="0"/>
              <a:t>Bullet point goes in here (Arial 18 Bold)</a:t>
            </a:r>
          </a:p>
          <a:p>
            <a:pPr lvl="3"/>
            <a:r>
              <a:rPr lang="en-US" altLang="zh-TW" dirty="0"/>
              <a:t>Bullet point goes here (Arial 16)</a:t>
            </a:r>
          </a:p>
          <a:p>
            <a:pPr lvl="0"/>
            <a:r>
              <a:rPr lang="en-US" altLang="zh-TW" dirty="0"/>
              <a:t>Bullet point 2 will be here (Arial 24 Bold)</a:t>
            </a:r>
          </a:p>
          <a:p>
            <a:pPr lvl="1"/>
            <a:r>
              <a:rPr lang="en-US" altLang="zh-TW" dirty="0"/>
              <a:t>Bullet point goes here (Arial 20 Bold)</a:t>
            </a:r>
          </a:p>
          <a:p>
            <a:pPr lvl="2"/>
            <a:r>
              <a:rPr lang="en-US" altLang="zh-TW" dirty="0"/>
              <a:t>Bullet point goes in here (Arial 18 Bold)</a:t>
            </a:r>
          </a:p>
          <a:p>
            <a:pPr lvl="3"/>
            <a:r>
              <a:rPr lang="en-US" altLang="zh-TW" dirty="0"/>
              <a:t>Bullet point goes here (Arial 16)</a:t>
            </a:r>
          </a:p>
        </p:txBody>
      </p:sp>
      <p:sp>
        <p:nvSpPr>
          <p:cNvPr id="1029" name="Rectangle 9">
            <a:extLst>
              <a:ext uri="{FF2B5EF4-FFF2-40B4-BE49-F238E27FC236}">
                <a16:creationId xmlns:a16="http://schemas.microsoft.com/office/drawing/2014/main" id="{D4100F9E-A9C1-41A8-B9A7-F73E6066EE77}"/>
              </a:ext>
            </a:extLst>
          </p:cNvPr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709613" y="42865"/>
            <a:ext cx="10974387" cy="795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Headline Title Goes Here (Arial 32 Bold)</a:t>
            </a:r>
          </a:p>
        </p:txBody>
      </p:sp>
      <p:sp>
        <p:nvSpPr>
          <p:cNvPr id="1034" name="文字方塊 17">
            <a:extLst>
              <a:ext uri="{FF2B5EF4-FFF2-40B4-BE49-F238E27FC236}">
                <a16:creationId xmlns:a16="http://schemas.microsoft.com/office/drawing/2014/main" id="{5B57FFE1-3DCF-437D-9ECA-46F54EFC38C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87100" y="593725"/>
            <a:ext cx="11398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defRPr/>
            </a:pPr>
            <a:r>
              <a:rPr lang="en-US" altLang="zh-TW" sz="800" dirty="0">
                <a:solidFill>
                  <a:srgbClr val="A6A6A6"/>
                </a:solidFill>
              </a:rPr>
              <a:t>Unleash</a:t>
            </a:r>
            <a:r>
              <a:rPr lang="en-US" altLang="zh-TW" sz="1000" dirty="0">
                <a:solidFill>
                  <a:srgbClr val="A6A6A6"/>
                </a:solidFill>
              </a:rPr>
              <a:t> </a:t>
            </a:r>
            <a:r>
              <a:rPr lang="en-US" altLang="zh-TW" sz="800" dirty="0">
                <a:solidFill>
                  <a:srgbClr val="A6A6A6"/>
                </a:solidFill>
              </a:rPr>
              <a:t>Innovation</a:t>
            </a:r>
            <a:endParaRPr lang="zh-TW" altLang="en-US" sz="800" baseline="50000" dirty="0">
              <a:solidFill>
                <a:srgbClr val="A6A6A6"/>
              </a:solidFill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70CCAA61-7F4E-4F17-9426-2C7F54837E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9200" y="119063"/>
            <a:ext cx="6127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288D9DB6-D7AA-4AA9-8125-0F0BB01D5822}"/>
              </a:ext>
            </a:extLst>
          </p:cNvPr>
          <p:cNvSpPr/>
          <p:nvPr userDrawn="1"/>
        </p:nvSpPr>
        <p:spPr bwMode="white">
          <a:xfrm rot="10800000">
            <a:off x="0" y="6627599"/>
            <a:ext cx="12192000" cy="23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800"/>
          </a:p>
        </p:txBody>
      </p:sp>
      <p:grpSp>
        <p:nvGrpSpPr>
          <p:cNvPr id="18" name="群組 1">
            <a:extLst>
              <a:ext uri="{FF2B5EF4-FFF2-40B4-BE49-F238E27FC236}">
                <a16:creationId xmlns:a16="http://schemas.microsoft.com/office/drawing/2014/main" id="{21CEA0F3-2887-4FF7-B0DD-70A6985F1DB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8738" y="6674877"/>
            <a:ext cx="1155556" cy="138499"/>
            <a:chOff x="198964" y="6156267"/>
            <a:chExt cx="1004221" cy="139470"/>
          </a:xfrm>
        </p:grpSpPr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622664D8-DEF9-419A-B617-9D2CB9A44B3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564281" y="6156267"/>
              <a:ext cx="638904" cy="1394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tIns="0" rIns="3600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kumimoji="0" lang="en-US" altLang="zh-TW" sz="900" dirty="0">
                  <a:solidFill>
                    <a:schemeClr val="bg1"/>
                  </a:solidFill>
                </a:rPr>
                <a:t>TSMC, Ltd</a:t>
              </a:r>
              <a:endParaRPr lang="en-US" altLang="zh-TW" sz="9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34C8656D-DFD3-4B94-8819-800B4119041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98964" y="6156267"/>
              <a:ext cx="143478" cy="139470"/>
            </a:xfrm>
            <a:prstGeom prst="rect">
              <a:avLst/>
            </a:prstGeom>
            <a:noFill/>
            <a:ln>
              <a:noFill/>
            </a:ln>
          </p:spPr>
          <p:txBody>
            <a:bodyPr lIns="36000" tIns="0" rIns="3600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kumimoji="0" lang="en-US" altLang="zh-TW" sz="900" dirty="0">
                  <a:solidFill>
                    <a:schemeClr val="bg1"/>
                  </a:solidFill>
                </a:rPr>
                <a:t>©</a:t>
              </a:r>
              <a:endParaRPr lang="en-US" altLang="zh-TW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Text Box 27">
            <a:extLst>
              <a:ext uri="{FF2B5EF4-FFF2-40B4-BE49-F238E27FC236}">
                <a16:creationId xmlns:a16="http://schemas.microsoft.com/office/drawing/2014/main" id="{65780E8A-945F-4ECA-92D5-F0A00FEF5E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8695" y="6623237"/>
            <a:ext cx="614611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30000"/>
              </a:spcBef>
              <a:defRPr/>
            </a:pPr>
            <a:fld id="{5FDCD46C-A757-47C9-B249-9BEAD46DF0D1}" type="slidenum">
              <a:rPr kumimoji="0" lang="en-US" altLang="zh-TW" sz="900" smtClean="0">
                <a:solidFill>
                  <a:schemeClr val="bg1"/>
                </a:solidFill>
              </a:rPr>
              <a:pPr algn="ctr" eaLnBrk="1" hangingPunct="1">
                <a:spcBef>
                  <a:spcPct val="30000"/>
                </a:spcBef>
                <a:defRPr/>
              </a:pPr>
              <a:t>‹#›</a:t>
            </a:fld>
            <a:endParaRPr kumimoji="0" lang="en-US" altLang="zh-TW" sz="900" dirty="0">
              <a:solidFill>
                <a:schemeClr val="bg1"/>
              </a:solidFill>
            </a:endParaRPr>
          </a:p>
        </p:txBody>
      </p:sp>
      <p:cxnSp>
        <p:nvCxnSpPr>
          <p:cNvPr id="23" name="直線接點 2">
            <a:extLst>
              <a:ext uri="{FF2B5EF4-FFF2-40B4-BE49-F238E27FC236}">
                <a16:creationId xmlns:a16="http://schemas.microsoft.com/office/drawing/2014/main" id="{78D9DAF8-3E5C-450F-BA7C-08EF58C346C1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flipH="1">
            <a:off x="0" y="6609878"/>
            <a:ext cx="1219358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73B4BF5C-6DB5-48B1-A803-B9C0B70C8FEC}"/>
              </a:ext>
            </a:extLst>
          </p:cNvPr>
          <p:cNvSpPr txBox="1"/>
          <p:nvPr userDrawn="1"/>
        </p:nvSpPr>
        <p:spPr>
          <a:xfrm>
            <a:off x="141288" y="6627168"/>
            <a:ext cx="56832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l"/>
            <a:fld id="{42629C37-38D6-4872-8B42-212CBD4B5EB0}" type="datetimeyyyy">
              <a:rPr kumimoji="0" lang="en-US" sz="900" b="1" kern="1200" smtClean="0">
                <a:solidFill>
                  <a:schemeClr val="bg1"/>
                </a:solidFill>
                <a:latin typeface="Arial" charset="0"/>
                <a:ea typeface="新細明體" charset="-120"/>
                <a:cs typeface="+mn-cs"/>
              </a:rPr>
              <a:pPr algn="l"/>
              <a:t>2023</a:t>
            </a:fld>
            <a:endParaRPr kumimoji="0" lang="en-US" sz="900" b="1" kern="1200" dirty="0">
              <a:solidFill>
                <a:schemeClr val="bg1"/>
              </a:solidFill>
              <a:latin typeface="Arial" charset="0"/>
              <a:ea typeface="新細明體" charset="-120"/>
              <a:cs typeface="+mn-cs"/>
            </a:endParaRPr>
          </a:p>
        </p:txBody>
      </p:sp>
      <p:sp>
        <p:nvSpPr>
          <p:cNvPr id="4" name="MSIPCMContentMarking" descr="{&quot;HashCode&quot;:-1839075152,&quot;Placement&quot;:&quot;Footer&quot;,&quot;Top&quot;:520.68866,&quot;Left&quot;:848.9191,&quot;SlideWidth&quot;:960,&quot;SlideHeight&quot;:540}">
            <a:extLst>
              <a:ext uri="{FF2B5EF4-FFF2-40B4-BE49-F238E27FC236}">
                <a16:creationId xmlns:a16="http://schemas.microsoft.com/office/drawing/2014/main" id="{42C0EF45-9774-41BF-B3FC-BF2C8DA8E416}"/>
              </a:ext>
            </a:extLst>
          </p:cNvPr>
          <p:cNvSpPr txBox="1"/>
          <p:nvPr userDrawn="1"/>
        </p:nvSpPr>
        <p:spPr>
          <a:xfrm>
            <a:off x="10781273" y="6612746"/>
            <a:ext cx="1410727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TW" sz="900">
                <a:solidFill>
                  <a:srgbClr val="FFFFFF"/>
                </a:solidFill>
                <a:latin typeface="Calibri" panose="020F0502020204030204" pitchFamily="34" charset="0"/>
              </a:rPr>
              <a:t>Security C - TSMC Secret</a:t>
            </a:r>
            <a:endParaRPr lang="zh-TW" altLang="en-US" sz="9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19" r:id="rId2"/>
    <p:sldLayoutId id="2147484120" r:id="rId3"/>
    <p:sldLayoutId id="2147484121" r:id="rId4"/>
    <p:sldLayoutId id="2147484122" r:id="rId5"/>
    <p:sldLayoutId id="2147484123" r:id="rId6"/>
    <p:sldLayoutId id="2147484124" r:id="rId7"/>
    <p:sldLayoutId id="2147484125" r:id="rId8"/>
    <p:sldLayoutId id="2147484126" r:id="rId9"/>
    <p:sldLayoutId id="2147484127" r:id="rId10"/>
    <p:sldLayoutId id="2147484128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 baseline="0">
          <a:solidFill>
            <a:schemeClr val="tx2"/>
          </a:solidFill>
          <a:latin typeface="+mj-lt"/>
          <a:ea typeface="微軟正黑體" panose="020B0604030504040204" pitchFamily="34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23850" indent="-250825" algn="l" rtl="0" eaLnBrk="1" fontAlgn="base" hangingPunct="1">
        <a:spcBef>
          <a:spcPts val="600"/>
        </a:spcBef>
        <a:spcAft>
          <a:spcPct val="0"/>
        </a:spcAft>
        <a:buClr>
          <a:srgbClr val="FF0000"/>
        </a:buClr>
        <a:buSzPct val="120000"/>
        <a:buFont typeface="Arial" panose="020B0604020202020204" pitchFamily="34" charset="0"/>
        <a:buChar char="•"/>
        <a:defRPr kumimoji="1" sz="1800" b="1" baseline="0">
          <a:solidFill>
            <a:schemeClr val="tx1"/>
          </a:solidFill>
          <a:latin typeface="+mn-lt"/>
          <a:ea typeface="微軟正黑體" panose="020B0604030504040204" pitchFamily="34" charset="-120"/>
          <a:cs typeface="+mn-cs"/>
        </a:defRPr>
      </a:lvl1pPr>
      <a:lvl2pPr marL="863600" indent="-250825" algn="l" rtl="0" eaLnBrk="1" fontAlgn="base" hangingPunct="1">
        <a:spcBef>
          <a:spcPts val="600"/>
        </a:spcBef>
        <a:spcAft>
          <a:spcPct val="0"/>
        </a:spcAft>
        <a:buSzPct val="140000"/>
        <a:buFont typeface="Calibri" panose="020F0502020204030204" pitchFamily="34" charset="0"/>
        <a:buChar char="▪"/>
        <a:defRPr kumimoji="1" sz="1600" b="1" baseline="0">
          <a:solidFill>
            <a:schemeClr val="tx1"/>
          </a:solidFill>
          <a:latin typeface="+mn-lt"/>
          <a:ea typeface="微軟正黑體" panose="020B0604030504040204" pitchFamily="34" charset="-120"/>
        </a:defRPr>
      </a:lvl2pPr>
      <a:lvl3pPr marL="1331913" indent="-250825" algn="l" rtl="0" eaLnBrk="1" fontAlgn="base" hangingPunct="1">
        <a:spcBef>
          <a:spcPts val="600"/>
        </a:spcBef>
        <a:spcAft>
          <a:spcPct val="0"/>
        </a:spcAft>
        <a:buSzPct val="130000"/>
        <a:buFont typeface="Calibri" panose="020F0502020204030204" pitchFamily="34" charset="0"/>
        <a:buChar char="▫"/>
        <a:defRPr kumimoji="1" sz="1400" b="1" baseline="0">
          <a:solidFill>
            <a:schemeClr val="tx1"/>
          </a:solidFill>
          <a:latin typeface="+mn-lt"/>
          <a:ea typeface="微軟正黑體" panose="020B0604030504040204" pitchFamily="34" charset="-120"/>
        </a:defRPr>
      </a:lvl3pPr>
      <a:lvl4pPr marL="1798638" indent="-250825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♦"/>
        <a:defRPr kumimoji="1" sz="1200" baseline="0">
          <a:solidFill>
            <a:schemeClr val="tx1"/>
          </a:solidFill>
          <a:latin typeface="+mn-lt"/>
          <a:ea typeface="微軟正黑體" panose="020B0604030504040204" pitchFamily="34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package" Target="../embeddings/Microsoft_Excel_Worksheet1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2.xls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C08D0A0-C042-4877-A69B-D1D3D3CDF92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27138" y="3227388"/>
            <a:ext cx="9982200" cy="1304925"/>
          </a:xfrm>
        </p:spPr>
        <p:txBody>
          <a:bodyPr/>
          <a:lstStyle/>
          <a:p>
            <a:r>
              <a:rPr lang="en-US" altLang="zh-TW" dirty="0"/>
              <a:t>New Tool Type –</a:t>
            </a:r>
            <a:r>
              <a:rPr lang="zh-TW" altLang="en-US" dirty="0">
                <a:solidFill>
                  <a:srgbClr val="0000FF"/>
                </a:solidFill>
              </a:rPr>
              <a:t>大量科技</a:t>
            </a:r>
            <a:r>
              <a:rPr lang="en-US" altLang="zh-TW" dirty="0">
                <a:solidFill>
                  <a:srgbClr val="0000FF"/>
                </a:solidFill>
              </a:rPr>
              <a:t>FTGM1-100</a:t>
            </a:r>
            <a:br>
              <a:rPr lang="en-US" altLang="zh-TW" dirty="0"/>
            </a:br>
            <a:r>
              <a:rPr lang="en-US" altLang="zh-TW" dirty="0"/>
              <a:t>TAP Development Work Flow (AP)</a:t>
            </a:r>
            <a:endParaRPr lang="zh-TW" alt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25252793-3DA6-42F6-829B-994D7E50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3" y="42865"/>
            <a:ext cx="10974387" cy="795335"/>
          </a:xfrm>
        </p:spPr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User – 1. Tool information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19508070-3649-43FE-AB4E-7D0B43A36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914397"/>
            <a:ext cx="10972800" cy="5562601"/>
          </a:xfrm>
        </p:spPr>
        <p:txBody>
          <a:bodyPr/>
          <a:lstStyle/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Area: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rgbClr val="0000FF"/>
                </a:solidFill>
              </a:rPr>
              <a:t>竹南</a:t>
            </a:r>
            <a:r>
              <a:rPr lang="en-US" altLang="zh-TW" dirty="0" err="1">
                <a:solidFill>
                  <a:srgbClr val="0000FF"/>
                </a:solidFill>
              </a:rPr>
              <a:t>SoIC</a:t>
            </a:r>
            <a:endParaRPr lang="en-US" altLang="zh-TW" dirty="0">
              <a:solidFill>
                <a:srgbClr val="0000FF"/>
              </a:solidFill>
            </a:endParaRP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ID: </a:t>
            </a:r>
            <a:r>
              <a:rPr lang="en-US" altLang="zh-TW" dirty="0">
                <a:solidFill>
                  <a:srgbClr val="0000FF"/>
                </a:solidFill>
              </a:rPr>
              <a:t>HGETM2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Fab: </a:t>
            </a:r>
            <a:r>
              <a:rPr lang="en-US" altLang="zh-TW" dirty="0">
                <a:solidFill>
                  <a:srgbClr val="0000FF"/>
                </a:solidFill>
              </a:rPr>
              <a:t>AP06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Vendor name:</a:t>
            </a:r>
            <a:r>
              <a:rPr lang="zh-TW" altLang="en-US" dirty="0">
                <a:solidFill>
                  <a:srgbClr val="0000FF"/>
                </a:solidFill>
              </a:rPr>
              <a:t>大量科技</a:t>
            </a:r>
            <a:endParaRPr lang="en-US" altLang="zh-TW" dirty="0">
              <a:solidFill>
                <a:srgbClr val="0000FF"/>
              </a:solidFill>
            </a:endParaRP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model: </a:t>
            </a:r>
            <a:r>
              <a:rPr lang="en-US" altLang="zh-TW" dirty="0">
                <a:solidFill>
                  <a:srgbClr val="0000FF"/>
                </a:solidFill>
              </a:rPr>
              <a:t>FTGM1-100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information (LP, Chamber, Similar Tool, etc.) : </a:t>
            </a:r>
            <a:r>
              <a:rPr lang="en-US" altLang="zh-TW" dirty="0">
                <a:solidFill>
                  <a:srgbClr val="0000FF"/>
                </a:solidFill>
              </a:rPr>
              <a:t>2 </a:t>
            </a:r>
            <a:r>
              <a:rPr lang="en-US" altLang="zh-TW" dirty="0" err="1">
                <a:solidFill>
                  <a:srgbClr val="0000FF"/>
                </a:solidFill>
              </a:rPr>
              <a:t>Foup</a:t>
            </a:r>
            <a:r>
              <a:rPr lang="en-US" altLang="zh-TW" dirty="0">
                <a:solidFill>
                  <a:srgbClr val="0000FF"/>
                </a:solidFill>
              </a:rPr>
              <a:t> L/P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0000FF"/>
                </a:solidFill>
              </a:rPr>
              <a:t>1 Chamber </a:t>
            </a:r>
            <a:r>
              <a:rPr lang="en-US" altLang="zh-TW" dirty="0"/>
              <a:t>Similar Tool: </a:t>
            </a:r>
            <a:r>
              <a:rPr lang="en-US" altLang="zh-TW" dirty="0">
                <a:solidFill>
                  <a:srgbClr val="0000FF"/>
                </a:solidFill>
              </a:rPr>
              <a:t>HGETM1</a:t>
            </a:r>
            <a:endParaRPr lang="en-US" altLang="zh-TW" dirty="0"/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release status (T-1, T-2, etc.):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T-1 Plan Release Day </a:t>
            </a:r>
            <a:r>
              <a:rPr lang="en-US" altLang="zh-TW" dirty="0">
                <a:solidFill>
                  <a:srgbClr val="0000FF"/>
                </a:solidFill>
                <a:sym typeface="Wingdings" panose="05000000000000000000" pitchFamily="2" charset="2"/>
              </a:rPr>
              <a:t>12/28 </a:t>
            </a:r>
            <a:r>
              <a:rPr lang="en-US" altLang="zh-TW" dirty="0">
                <a:sym typeface="Wingdings" panose="05000000000000000000" pitchFamily="2" charset="2"/>
              </a:rPr>
              <a:t>, </a:t>
            </a:r>
            <a:r>
              <a:rPr lang="en-US" altLang="zh-TW" dirty="0">
                <a:solidFill>
                  <a:srgbClr val="0000FF"/>
                </a:solidFill>
                <a:sym typeface="Wingdings" panose="05000000000000000000" pitchFamily="2" charset="2"/>
              </a:rPr>
              <a:t>T-2 Plan Release Day 01/11 </a:t>
            </a:r>
            <a:endParaRPr lang="en-US" altLang="zh-TW" dirty="0">
              <a:solidFill>
                <a:srgbClr val="0000FF"/>
              </a:solidFill>
            </a:endParaRP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Vendor contact information  (Name/Phone/Mail):</a:t>
            </a:r>
            <a:r>
              <a:rPr lang="zh-TW" altLang="en-US" dirty="0"/>
              <a:t> </a:t>
            </a:r>
            <a:endParaRPr lang="en-US" altLang="zh-TW" dirty="0"/>
          </a:p>
          <a:p>
            <a:pPr marL="73025" indent="0">
              <a:lnSpc>
                <a:spcPct val="130000"/>
              </a:lnSpc>
              <a:buSzPct val="110000"/>
              <a:buNone/>
            </a:pPr>
            <a:r>
              <a:rPr lang="en-US" altLang="zh-TW" dirty="0"/>
              <a:t>Software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en-US" altLang="zh-TW" dirty="0"/>
              <a:t>Name: </a:t>
            </a:r>
            <a:r>
              <a:rPr lang="zh-TW" altLang="en-US" dirty="0"/>
              <a:t>陳俊臣</a:t>
            </a:r>
            <a:r>
              <a:rPr lang="en-US" altLang="zh-TW" dirty="0"/>
              <a:t> / Phone:0975119081 Mail: </a:t>
            </a:r>
            <a:r>
              <a:rPr lang="en-US" altLang="zh-TW" dirty="0" err="1"/>
              <a:t>ccchen</a:t>
            </a:r>
            <a:r>
              <a:rPr lang="fi-FI" altLang="zh-TW" dirty="0">
                <a:sym typeface="Wingdings" panose="05000000000000000000" pitchFamily="2" charset="2"/>
              </a:rPr>
              <a:t>@tlhome.com.tw </a:t>
            </a:r>
            <a:endParaRPr lang="en-US" altLang="zh-TW" dirty="0"/>
          </a:p>
          <a:p>
            <a:pPr marL="73025" indent="0">
              <a:lnSpc>
                <a:spcPct val="130000"/>
              </a:lnSpc>
              <a:buSzPct val="110000"/>
              <a:buNone/>
            </a:pPr>
            <a:r>
              <a:rPr lang="en-US" altLang="zh-TW" dirty="0"/>
              <a:t>Service </a:t>
            </a:r>
            <a:r>
              <a:rPr lang="en-US" altLang="zh-TW" dirty="0">
                <a:sym typeface="Wingdings" panose="05000000000000000000" pitchFamily="2" charset="2"/>
              </a:rPr>
              <a:t> Name: </a:t>
            </a:r>
            <a:r>
              <a:rPr lang="en-US" altLang="zh-TW" dirty="0"/>
              <a:t>Derek</a:t>
            </a:r>
            <a:r>
              <a:rPr lang="en-US" altLang="zh-TW" dirty="0">
                <a:sym typeface="Wingdings" panose="05000000000000000000" pitchFamily="2" charset="2"/>
              </a:rPr>
              <a:t> /Phone: 0975789030 Mail: d</a:t>
            </a:r>
            <a:r>
              <a:rPr lang="fi-FI" altLang="zh-TW" dirty="0">
                <a:sym typeface="Wingdings" panose="05000000000000000000" pitchFamily="2" charset="2"/>
              </a:rPr>
              <a:t>erek.lee@tlhome.com.tw </a:t>
            </a:r>
          </a:p>
          <a:p>
            <a:pPr marL="73025" indent="0">
              <a:lnSpc>
                <a:spcPct val="130000"/>
              </a:lnSpc>
              <a:buSzPct val="110000"/>
              <a:buNone/>
            </a:pPr>
            <a:r>
              <a:rPr lang="fi-FI" altLang="zh-TW" dirty="0">
                <a:sym typeface="Wingdings" panose="05000000000000000000" pitchFamily="2" charset="2"/>
              </a:rPr>
              <a:t>Sales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 Name: Eason /Phone: 0932531710 Mail: eason.kao@tlhome.com.tw</a:t>
            </a:r>
          </a:p>
          <a:p>
            <a:pPr marL="73025" indent="0">
              <a:lnSpc>
                <a:spcPct val="130000"/>
              </a:lnSpc>
              <a:buSzPct val="110000"/>
              <a:buNone/>
            </a:pPr>
            <a:endParaRPr lang="fi-FI" altLang="zh-TW" dirty="0">
              <a:sym typeface="Wingdings" panose="05000000000000000000" pitchFamily="2" charset="2"/>
            </a:endParaRPr>
          </a:p>
          <a:p>
            <a:pPr marL="73025" indent="0">
              <a:lnSpc>
                <a:spcPct val="130000"/>
              </a:lnSpc>
              <a:buSzPct val="110000"/>
              <a:buNone/>
            </a:pPr>
            <a:endParaRPr lang="en-US" altLang="zh-TW" dirty="0"/>
          </a:p>
        </p:txBody>
      </p:sp>
      <p:sp>
        <p:nvSpPr>
          <p:cNvPr id="9" name="動作按鈕: 移至首頁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33C2029-281C-46ED-898F-05782780DF49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749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DD795-5A66-4F49-8663-5EC6B96F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User – 3. Function list</a:t>
            </a:r>
            <a:endParaRPr lang="zh-TW" altLang="en-US" dirty="0"/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00C0CF4A-133C-4831-923E-F3C75D22D5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8278694"/>
              </p:ext>
            </p:extLst>
          </p:nvPr>
        </p:nvGraphicFramePr>
        <p:xfrm>
          <a:off x="762000" y="846115"/>
          <a:ext cx="10809752" cy="5707085"/>
        </p:xfrm>
        <a:graphic>
          <a:graphicData uri="http://schemas.openxmlformats.org/drawingml/2006/table">
            <a:tbl>
              <a:tblPr/>
              <a:tblGrid>
                <a:gridCol w="765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3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7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26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451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Function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Need? (</a:t>
                      </a:r>
                      <a:r>
                        <a:rPr lang="en-US" altLang="zh-TW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Please tick V)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Need Provide SECS log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SECS 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Description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ECS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S2F13\S2F14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ECID by ECS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PMS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S1F3\S1F4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Send SVID to PMS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39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ALM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Sent Alarm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S5F1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Send alarm to Alarm system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3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Pause Tool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S2F41\S2F42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For alarm action (</a:t>
                      </a:r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停機</a:t>
                      </a:r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3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FDC Alarm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FDC alarm SourceType from EQP to FDC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TIDS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S6F11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Auto RS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S6F11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Auto DC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S6F11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Report Data to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Siview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 (SPC)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5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Die/Material  Pick &amp; Placement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S6F11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Tool report  S6F11 event to host by die pick &amp; place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312293"/>
                  </a:ext>
                </a:extLst>
              </a:tr>
              <a:tr h="2875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Container ID Gating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S12F73\S12F74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S3F17\S3F18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S3F17 host provide container ID to tool (not wafer)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828751"/>
                  </a:ext>
                </a:extLst>
              </a:tr>
              <a:tr h="707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Die/Material Map Transfer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S12F1\S12F2</a:t>
                      </a:r>
                    </a:p>
                    <a:p>
                      <a:pPr marL="36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S12F3\S12F4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S12F5\S12F6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S12F9\S12F10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S12F15\S12F16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S12 map download/upload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855670"/>
                  </a:ext>
                </a:extLst>
              </a:tr>
              <a:tr h="95363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NRMS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S7F5\S7F6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S7F25\S7F26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S7F19\S7F20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S7F3\S7F4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S7F17\S7F18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Binary Recipe Body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Formatted Recipe Body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Recipe List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Create Binary Recipe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Create Formatted Recipe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Delete Recipe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461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RMS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(Default NRMS. If need, please write reasons.</a:t>
                      </a:r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S7F5\S7F6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S7F25\S7F26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S7F19\S7F2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Binary Recipe Body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Formatted Recipe Body</a:t>
                      </a:r>
                      <a:b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</a:b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Query Recipe List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BatchRHLD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S2F41\S2F42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Batch Hold Reduction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Delay Dock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Delay Dock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Foup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25162"/>
                  </a:ext>
                </a:extLst>
              </a:tr>
              <a:tr h="2875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Phase II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Smart Sequence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S7F25\S7F26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S16F15\S16F16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S7F25 allow host to query available chamber</a:t>
                      </a:r>
                    </a:p>
                    <a:p>
                      <a:pPr marL="36000"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S16F15 allow host to assign non-available chamber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569504"/>
                  </a:ext>
                </a:extLst>
              </a:tr>
            </a:tbl>
          </a:graphicData>
        </a:graphic>
      </p:graphicFrame>
      <p:sp>
        <p:nvSpPr>
          <p:cNvPr id="7" name="動作按鈕: 移至首頁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109E319-D247-4F3E-AFF7-CCCCE398C66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94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DD795-5A66-4F49-8663-5EC6B96F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User – 4. Test timeline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874B4D-84FF-40ED-9081-748D3B56C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3025" indent="0">
              <a:lnSpc>
                <a:spcPct val="130000"/>
              </a:lnSpc>
              <a:buNone/>
            </a:pPr>
            <a:r>
              <a:rPr lang="en-US" altLang="zh-TW" dirty="0"/>
              <a:t>Please reply to the question and a date for testing of the following items: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Secs initial (</a:t>
            </a:r>
            <a:r>
              <a:rPr lang="zh-TW" altLang="en-US" dirty="0"/>
              <a:t>測試機台連線</a:t>
            </a:r>
            <a:r>
              <a:rPr lang="en-US" altLang="zh-TW" dirty="0"/>
              <a:t>)</a:t>
            </a:r>
            <a:br>
              <a:rPr lang="en-US" altLang="zh-TW" b="0" dirty="0"/>
            </a:br>
            <a:r>
              <a:rPr lang="zh-TW" altLang="en-US" b="0" dirty="0"/>
              <a:t>網路連線是否開通</a:t>
            </a:r>
            <a:r>
              <a:rPr lang="en-US" altLang="zh-TW" b="0" dirty="0"/>
              <a:t>?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Tool mode change (</a:t>
            </a:r>
            <a:r>
              <a:rPr lang="zh-TW" altLang="en-US" dirty="0"/>
              <a:t>透過 </a:t>
            </a:r>
            <a:r>
              <a:rPr lang="en-US" altLang="zh-TW" dirty="0" err="1"/>
              <a:t>Siview</a:t>
            </a:r>
            <a:r>
              <a:rPr lang="en-US" altLang="zh-TW" dirty="0"/>
              <a:t> </a:t>
            </a:r>
            <a:r>
              <a:rPr lang="zh-TW" altLang="en-US" dirty="0"/>
              <a:t>切換 </a:t>
            </a:r>
            <a:r>
              <a:rPr lang="en-US" altLang="zh-TW" dirty="0"/>
              <a:t>tool mode)</a:t>
            </a:r>
            <a:br>
              <a:rPr lang="en-US" altLang="zh-TW" b="0" dirty="0"/>
            </a:br>
            <a:r>
              <a:rPr lang="zh-TW" altLang="en-US" b="0" dirty="0"/>
              <a:t>網路連線是否開通</a:t>
            </a:r>
            <a:r>
              <a:rPr lang="en-US" altLang="zh-TW" b="0" dirty="0"/>
              <a:t>?</a:t>
            </a:r>
          </a:p>
          <a:p>
            <a:pPr marL="415925" indent="-342900">
              <a:lnSpc>
                <a:spcPct val="130000"/>
              </a:lnSpc>
              <a:buSzPct val="110000"/>
              <a:buFont typeface="+mj-lt"/>
              <a:buAutoNum type="arabicPeriod"/>
            </a:pPr>
            <a:r>
              <a:rPr lang="en-US" altLang="zh-TW" dirty="0"/>
              <a:t>Scenario Test: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RFID test</a:t>
            </a:r>
            <a:br>
              <a:rPr lang="en-US" altLang="zh-TW" b="0" dirty="0"/>
            </a:br>
            <a:r>
              <a:rPr lang="en-US" altLang="zh-TW" b="0" dirty="0"/>
              <a:t>E84 sensor </a:t>
            </a:r>
            <a:r>
              <a:rPr lang="zh-TW" altLang="en-US" b="0" dirty="0"/>
              <a:t>是否安裝</a:t>
            </a:r>
            <a:r>
              <a:rPr lang="en-US" altLang="zh-TW" b="0" dirty="0"/>
              <a:t>?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Auto</a:t>
            </a:r>
            <a:r>
              <a:rPr lang="zh-TW" altLang="en-US" b="0" dirty="0"/>
              <a:t> </a:t>
            </a:r>
            <a:r>
              <a:rPr lang="en-US" altLang="zh-TW" b="0" dirty="0"/>
              <a:t>process</a:t>
            </a:r>
            <a:endParaRPr lang="zh-TW" altLang="en-US" b="0" dirty="0"/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NRMS test (Optional)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FDC defense test (Optional)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b="0" dirty="0"/>
              <a:t>Other function (Optional)</a:t>
            </a:r>
            <a:endParaRPr lang="zh-TW" altLang="en-US" b="0" dirty="0"/>
          </a:p>
        </p:txBody>
      </p:sp>
      <p:sp>
        <p:nvSpPr>
          <p:cNvPr id="4" name="動作按鈕: 移至首頁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F9804FE-B04D-4156-9177-0D2CED0D628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056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7ADE1-588C-463F-B3D1-03EEFC7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Vendor – 3. CEID/RPTID/DVID…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EB8EF-00FA-4A47-9BC9-BDFC971AD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/>
              <a:t>Please refer to template format to provide *.csv or .xlsx file of CEID, RPTID, DVID, SVID, ECID, and ALID list.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Template: </a:t>
            </a:r>
          </a:p>
        </p:txBody>
      </p:sp>
      <p:sp>
        <p:nvSpPr>
          <p:cNvPr id="5" name="動作按鈕: 移至首頁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7D608E8-9A29-4A16-A207-2AA50243E9B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8435520-0A5F-4B26-96D4-DCFF420D9E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2"/>
          <a:stretch/>
        </p:blipFill>
        <p:spPr>
          <a:xfrm>
            <a:off x="963613" y="2752725"/>
            <a:ext cx="10264775" cy="29622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12891A2D-20DF-4756-BB3B-DFC0AF139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985575"/>
              </p:ext>
            </p:extLst>
          </p:nvPr>
        </p:nvGraphicFramePr>
        <p:xfrm>
          <a:off x="2268538" y="1739900"/>
          <a:ext cx="9493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48600" imgH="799200" progId="Excel.Sheet.12">
                  <p:embed/>
                </p:oleObj>
              </mc:Choice>
              <mc:Fallback>
                <p:oleObj name="Worksheet" showAsIcon="1" r:id="rId4" imgW="948600" imgH="799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68538" y="1739900"/>
                        <a:ext cx="949325" cy="79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687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7ADE1-588C-463F-B3D1-03EEFC7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Vendor – 4. SMD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EB8EF-00FA-4A47-9BC9-BDFC971AD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/>
              <a:t>Please refer to template format to provide CEID, RPTID, SVID or DVID for </a:t>
            </a:r>
            <a:r>
              <a:rPr lang="en-US" altLang="zh-TW" i="1" dirty="0"/>
              <a:t>S2F33 Define Reports / S2F35 Link Reports / S2F37 Enable Events</a:t>
            </a:r>
            <a:r>
              <a:rPr lang="en-US" altLang="zh-TW" dirty="0"/>
              <a:t>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Template: </a:t>
            </a:r>
          </a:p>
        </p:txBody>
      </p:sp>
      <p:sp>
        <p:nvSpPr>
          <p:cNvPr id="5" name="動作按鈕: 移至首頁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7D608E8-9A29-4A16-A207-2AA50243E9B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371C3D0-B8F2-4E30-AD03-A69B56EF2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00" y="2794045"/>
            <a:ext cx="11599200" cy="299715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7A0DEB-6365-4BEF-93EA-B9ED4285A7FE}"/>
              </a:ext>
            </a:extLst>
          </p:cNvPr>
          <p:cNvSpPr/>
          <p:nvPr/>
        </p:nvSpPr>
        <p:spPr bwMode="auto">
          <a:xfrm>
            <a:off x="1324800" y="3200400"/>
            <a:ext cx="504000" cy="2362200"/>
          </a:xfrm>
          <a:prstGeom prst="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5ACB73-FD51-4132-9D2C-D9835DC85E16}"/>
              </a:ext>
            </a:extLst>
          </p:cNvPr>
          <p:cNvSpPr/>
          <p:nvPr/>
        </p:nvSpPr>
        <p:spPr bwMode="auto">
          <a:xfrm>
            <a:off x="5105400" y="3200400"/>
            <a:ext cx="1828800" cy="2362200"/>
          </a:xfrm>
          <a:prstGeom prst="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CEDF9F-56E5-40A1-8102-C8432C7F6FEF}"/>
              </a:ext>
            </a:extLst>
          </p:cNvPr>
          <p:cNvSpPr/>
          <p:nvPr/>
        </p:nvSpPr>
        <p:spPr bwMode="auto">
          <a:xfrm>
            <a:off x="990600" y="5611200"/>
            <a:ext cx="381000" cy="180000"/>
          </a:xfrm>
          <a:prstGeom prst="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1C1346CB-D37B-4719-862F-F9B2F84EF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761850"/>
              </p:ext>
            </p:extLst>
          </p:nvPr>
        </p:nvGraphicFramePr>
        <p:xfrm>
          <a:off x="2268538" y="1739900"/>
          <a:ext cx="9493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48600" imgH="799200" progId="Excel.Sheet.12">
                  <p:embed/>
                </p:oleObj>
              </mc:Choice>
              <mc:Fallback>
                <p:oleObj name="Worksheet" showAsIcon="1" r:id="rId4" imgW="948600" imgH="799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68538" y="1739900"/>
                        <a:ext cx="949325" cy="79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446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7ADE1-588C-463F-B3D1-03EEFC7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Vendor – 5. Flow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EB8EF-00FA-4A47-9BC9-BDFC971AD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/>
              <a:t>Please refer to template format to provide flow by scenario - SECS initial scenario, Tool mode change, Process scenario (include delete residual PJ and CJ), and Cancel process scenario.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Template: </a:t>
            </a:r>
          </a:p>
        </p:txBody>
      </p:sp>
      <p:sp>
        <p:nvSpPr>
          <p:cNvPr id="5" name="動作按鈕: 移至首頁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7D608E8-9A29-4A16-A207-2AA50243E9B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A4376098-CACC-43E7-B480-3C69CABF93E8}"/>
              </a:ext>
            </a:extLst>
          </p:cNvPr>
          <p:cNvGrpSpPr/>
          <p:nvPr/>
        </p:nvGrpSpPr>
        <p:grpSpPr>
          <a:xfrm>
            <a:off x="2183606" y="2312276"/>
            <a:ext cx="7824788" cy="4080124"/>
            <a:chOff x="2183606" y="2312276"/>
            <a:chExt cx="7824788" cy="4080124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254A6AC-D3BF-4308-9028-881F20CE3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3606" y="2312276"/>
              <a:ext cx="7824788" cy="4080124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D296670-9BB8-4DC2-9F77-A0E0F623F065}"/>
                </a:ext>
              </a:extLst>
            </p:cNvPr>
            <p:cNvSpPr/>
            <p:nvPr/>
          </p:nvSpPr>
          <p:spPr bwMode="auto">
            <a:xfrm>
              <a:off x="2971800" y="6166962"/>
              <a:ext cx="4572000" cy="225438"/>
            </a:xfrm>
            <a:prstGeom prst="rect">
              <a:avLst/>
            </a:prstGeom>
            <a:noFill/>
            <a:ln w="381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</p:grpSp>
      <p:graphicFrame>
        <p:nvGraphicFramePr>
          <p:cNvPr id="13" name="物件 12">
            <a:extLst>
              <a:ext uri="{FF2B5EF4-FFF2-40B4-BE49-F238E27FC236}">
                <a16:creationId xmlns:a16="http://schemas.microsoft.com/office/drawing/2014/main" id="{93D03EAB-A529-4A1B-A7D6-671A819531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658780"/>
              </p:ext>
            </p:extLst>
          </p:nvPr>
        </p:nvGraphicFramePr>
        <p:xfrm>
          <a:off x="2286000" y="1676400"/>
          <a:ext cx="9493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48600" imgH="799200" progId="Excel.Sheet.12">
                  <p:embed/>
                </p:oleObj>
              </mc:Choice>
              <mc:Fallback>
                <p:oleObj name="Worksheet" showAsIcon="1" r:id="rId4" imgW="948600" imgH="799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0" y="1676400"/>
                        <a:ext cx="949325" cy="79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215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7ADE1-588C-463F-B3D1-03EEFC7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</a:t>
            </a:r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Vendor – 6. Simulate log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EB8EF-00FA-4A47-9BC9-BDFC971AD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914397"/>
            <a:ext cx="11252200" cy="5562601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dirty="0"/>
              <a:t>Please refer to template format to provide simulate log by scenario - SECS initial scenario, Tool mode change, Process scenario (include delete residual PJ and CJ), and Cancel process scenario.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If the function item is ticked in function list        , please provide the simulate log of the function.</a:t>
            </a:r>
          </a:p>
          <a:p>
            <a:pPr>
              <a:lnSpc>
                <a:spcPct val="130000"/>
              </a:lnSpc>
            </a:pPr>
            <a:r>
              <a:rPr lang="en-US" altLang="zh-TW" dirty="0"/>
              <a:t>Template: </a:t>
            </a:r>
          </a:p>
        </p:txBody>
      </p:sp>
      <p:sp>
        <p:nvSpPr>
          <p:cNvPr id="5" name="動作按鈕: 移至首頁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7D608E8-9A29-4A16-A207-2AA50243E9B6}"/>
              </a:ext>
            </a:extLst>
          </p:cNvPr>
          <p:cNvSpPr/>
          <p:nvPr/>
        </p:nvSpPr>
        <p:spPr bwMode="auto">
          <a:xfrm>
            <a:off x="11827800" y="6248400"/>
            <a:ext cx="288000" cy="288000"/>
          </a:xfrm>
          <a:prstGeom prst="actionButtonHome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2C7E7A0-9784-4251-AD7C-A67737102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40302"/>
            <a:ext cx="3810000" cy="39520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A5FA6999-8B46-4FCC-BB2D-7DB4E8765E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061213"/>
              </p:ext>
            </p:extLst>
          </p:nvPr>
        </p:nvGraphicFramePr>
        <p:xfrm>
          <a:off x="2554288" y="2206625"/>
          <a:ext cx="18002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4" imgW="1800360" imgH="385200" progId="Package">
                  <p:embed/>
                </p:oleObj>
              </mc:Choice>
              <mc:Fallback>
                <p:oleObj name="封裝程式殼層物件" showAsIcon="1" r:id="rId4" imgW="1800360" imgH="3852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4288" y="2206625"/>
                        <a:ext cx="1800225" cy="385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動作按鈕: 往後或下一項 9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4163A750-E3E9-4FE9-9348-F33EC1EFE139}"/>
              </a:ext>
            </a:extLst>
          </p:cNvPr>
          <p:cNvSpPr/>
          <p:nvPr/>
        </p:nvSpPr>
        <p:spPr bwMode="auto">
          <a:xfrm>
            <a:off x="5881770" y="1806797"/>
            <a:ext cx="308187" cy="216000"/>
          </a:xfrm>
          <a:prstGeom prst="actionButtonForwardNext">
            <a:avLst/>
          </a:prstGeom>
          <a:solidFill>
            <a:srgbClr val="C0D7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9964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E48738-4F05-4888-930F-AC2D889C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Data Collection – Coordinator – Check List</a:t>
            </a:r>
            <a:endParaRPr lang="zh-TW" altLang="en-US" dirty="0"/>
          </a:p>
        </p:txBody>
      </p:sp>
      <p:graphicFrame>
        <p:nvGraphicFramePr>
          <p:cNvPr id="3" name="內容版面配置區 4">
            <a:extLst>
              <a:ext uri="{FF2B5EF4-FFF2-40B4-BE49-F238E27FC236}">
                <a16:creationId xmlns:a16="http://schemas.microsoft.com/office/drawing/2014/main" id="{52A49AAE-47FA-4396-AEF3-8478B36C26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9573698"/>
              </p:ext>
            </p:extLst>
          </p:nvPr>
        </p:nvGraphicFramePr>
        <p:xfrm>
          <a:off x="990601" y="1199162"/>
          <a:ext cx="10210799" cy="4592038"/>
        </p:xfrm>
        <a:graphic>
          <a:graphicData uri="http://schemas.openxmlformats.org/drawingml/2006/table">
            <a:tbl>
              <a:tblPr/>
              <a:tblGrid>
                <a:gridCol w="1961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Provider</a:t>
                      </a:r>
                      <a:r>
                        <a:rPr lang="zh-TW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Data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Done (</a:t>
                      </a:r>
                      <a:r>
                        <a:rPr lang="en-US" altLang="zh-TW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Please tick V)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5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User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Tool information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Benefit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Function list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Test timeline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7458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Vendor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Tool introduction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SECS manual (interface document)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CEID/RPTID/DVID/SVID/ECID/ALID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SMD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125162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Flow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954742"/>
                  </a:ext>
                </a:extLst>
              </a:tr>
              <a:tr h="417458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Simulate log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V</a:t>
                      </a:r>
                      <a:endParaRPr lang="zh-TW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267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318661"/>
      </p:ext>
    </p:extLst>
  </p:cSld>
  <p:clrMapOvr>
    <a:masterClrMapping/>
  </p:clrMapOvr>
</p:sld>
</file>

<file path=ppt/theme/theme1.xml><?xml version="1.0" encoding="utf-8"?>
<a:theme xmlns:a="http://schemas.openxmlformats.org/drawingml/2006/main" name="Prepared_by_Ted Chiang">
  <a:themeElements>
    <a:clrScheme name="Prepared_by_Ted Chia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repared_by_Ted Chiang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Prepared_by_Ted Chia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pared_by_Ted Chia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pared_by_Ted Chia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P 16x9 template.pptx" id="{FCEF76A7-1BC6-46FA-80F6-B8511AD1F76B}" vid="{702BB6B7-16AE-4BDD-9541-5C28BFFDF6E1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A539472A0B37439DC42399444B28EE" ma:contentTypeVersion="1" ma:contentTypeDescription="Create a new document." ma:contentTypeScope="" ma:versionID="b80293cf1dc3d43a94f19962e61735e0">
  <xsd:schema xmlns:xsd="http://www.w3.org/2001/XMLSchema" xmlns:xs="http://www.w3.org/2001/XMLSchema" xmlns:p="http://schemas.microsoft.com/office/2006/metadata/properties" xmlns:ns2="60444f4b-6e46-4854-9ab2-486b9b954e79" xmlns:ns3="7ca4bc96-b312-4046-bd42-58ef7eb616bb" targetNamespace="http://schemas.microsoft.com/office/2006/metadata/properties" ma:root="true" ma:fieldsID="28f9b93aaa27c0fb9a0bc0285037fd89" ns2:_="" ns3:_="">
    <xsd:import namespace="60444f4b-6e46-4854-9ab2-486b9b954e79"/>
    <xsd:import namespace="7ca4bc96-b312-4046-bd42-58ef7eb616b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44f4b-6e46-4854-9ab2-486b9b954e7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4bc96-b312-4046-bd42-58ef7eb616b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60444f4b-6e46-4854-9ab2-486b9b954e79">7ACKMKDSVTQS-134354134-165</_dlc_DocId>
    <_dlc_DocIdUrl xmlns="60444f4b-6e46-4854-9ab2-486b9b954e79">
      <Url>https://tsmctsh.tsmc.com.tw/sites/TCKM/_layouts/15/DocIdRedir.aspx?ID=7ACKMKDSVTQS-134354134-165</Url>
      <Description>7ACKMKDSVTQS-134354134-165</Description>
    </_dlc_DocIdUrl>
  </documentManagement>
</p:properties>
</file>

<file path=customXml/itemProps1.xml><?xml version="1.0" encoding="utf-8"?>
<ds:datastoreItem xmlns:ds="http://schemas.openxmlformats.org/officeDocument/2006/customXml" ds:itemID="{65D26AD2-4342-4EF3-930A-E73961EDDC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444f4b-6e46-4854-9ab2-486b9b954e79"/>
    <ds:schemaRef ds:uri="7ca4bc96-b312-4046-bd42-58ef7eb616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D675EB-2C41-40B4-92C5-26A034670D19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F6636BB1-3F4C-45D0-B071-0340C5CA4B6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6014541-87CF-4B09-8AD2-1813DDDC8F8A}">
  <ds:schemaRefs>
    <ds:schemaRef ds:uri="http://schemas.microsoft.com/office/2006/metadata/properties"/>
    <ds:schemaRef ds:uri="http://schemas.microsoft.com/office/infopath/2007/PartnerControls"/>
    <ds:schemaRef ds:uri="60444f4b-6e46-4854-9ab2-486b9b954e7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AIP 16x9 template</Template>
  <TotalTime>4577</TotalTime>
  <Words>818</Words>
  <Application>Microsoft Office PowerPoint</Application>
  <PresentationFormat>寬螢幕</PresentationFormat>
  <Paragraphs>162</Paragraphs>
  <Slides>9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3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Prepared_by_Ted Chiang</vt:lpstr>
      <vt:lpstr>Microsoft Excel 工作表</vt:lpstr>
      <vt:lpstr>Worksheet</vt:lpstr>
      <vt:lpstr>封裝</vt:lpstr>
      <vt:lpstr>New Tool Type –大量科技FTGM1-100 TAP Development Work Flow (AP)</vt:lpstr>
      <vt:lpstr>1. Data Collection – User – 1. Tool information</vt:lpstr>
      <vt:lpstr>1. Data Collection – User – 3. Function list</vt:lpstr>
      <vt:lpstr>1. Data Collection – User – 4. Test timeline</vt:lpstr>
      <vt:lpstr>1. Data Collection – Vendor – 3. CEID/RPTID/DVID…</vt:lpstr>
      <vt:lpstr>1. Data Collection – Vendor – 4. SMD</vt:lpstr>
      <vt:lpstr>1. Data Collection – Vendor – 5. Flow</vt:lpstr>
      <vt:lpstr>1. Data Collection – Vendor – 6. Simulate log</vt:lpstr>
      <vt:lpstr>Data Collection – Coordinator – Check List</vt:lpstr>
    </vt:vector>
  </TitlesOfParts>
  <Company>TSMC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Title Goes Here  (Arial 40 Bold)</dc:title>
  <dc:creator>Jo-Tung Li 李若彤</dc:creator>
  <cp:lastModifiedBy>賀翔 呂</cp:lastModifiedBy>
  <cp:revision>161</cp:revision>
  <cp:lastPrinted>2019-12-17T00:24:48Z</cp:lastPrinted>
  <dcterms:created xsi:type="dcterms:W3CDTF">2021-12-27T03:49:28Z</dcterms:created>
  <dcterms:modified xsi:type="dcterms:W3CDTF">2023-02-17T07:30:13Z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0x01010027A539472A0B37439DC42399444B28EE</vt:lpwstr>
  </property>
  <property fmtid="{D5CDD505-2E9C-101B-9397-08002B2CF9AE}" pid="3" name="_dlc_DocIdItemGuid">
    <vt:lpwstr>9cd9aaed-5657-4c1d-b983-e016a96bd946</vt:lpwstr>
  </property>
  <property fmtid="{D5CDD505-2E9C-101B-9397-08002B2CF9AE}" pid="4" name="MSIP_Label_9a7859fa-fb81-458d-9040-c3b7cffe6362_Enabled">
    <vt:lpwstr>true</vt:lpwstr>
  </property>
  <property fmtid="{D5CDD505-2E9C-101B-9397-08002B2CF9AE}" pid="5" name="MSIP_Label_9a7859fa-fb81-458d-9040-c3b7cffe6362_SetDate">
    <vt:lpwstr>2022-12-08T01:57:28Z</vt:lpwstr>
  </property>
  <property fmtid="{D5CDD505-2E9C-101B-9397-08002B2CF9AE}" pid="6" name="MSIP_Label_9a7859fa-fb81-458d-9040-c3b7cffe6362_Method">
    <vt:lpwstr>Privileged</vt:lpwstr>
  </property>
  <property fmtid="{D5CDD505-2E9C-101B-9397-08002B2CF9AE}" pid="7" name="MSIP_Label_9a7859fa-fb81-458d-9040-c3b7cffe6362_Name">
    <vt:lpwstr>External</vt:lpwstr>
  </property>
  <property fmtid="{D5CDD505-2E9C-101B-9397-08002B2CF9AE}" pid="8" name="MSIP_Label_9a7859fa-fb81-458d-9040-c3b7cffe6362_SiteId">
    <vt:lpwstr>9255f64b-1818-42e5-ad78-f619a9a7b1e7</vt:lpwstr>
  </property>
  <property fmtid="{D5CDD505-2E9C-101B-9397-08002B2CF9AE}" pid="9" name="MSIP_Label_9a7859fa-fb81-458d-9040-c3b7cffe6362_ActionId">
    <vt:lpwstr>6e5c30d4-dd13-4994-8e44-a8c4fdf4a00e</vt:lpwstr>
  </property>
  <property fmtid="{D5CDD505-2E9C-101B-9397-08002B2CF9AE}" pid="10" name="MSIP_Label_9a7859fa-fb81-458d-9040-c3b7cffe6362_ContentBits">
    <vt:lpwstr>3</vt:lpwstr>
  </property>
</Properties>
</file>